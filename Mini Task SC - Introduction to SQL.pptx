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Black"/>
      <p:bold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Caveat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hoM/gNOxyvnB4ik2DD7LNz/adZ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939706-1649-4F0E-96A8-61861AD31ADC}">
  <a:tblStyle styleId="{FC939706-1649-4F0E-96A8-61861AD31A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A51ADF5-125A-4740-9955-F36B59E6D8B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Caveat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Black-boldItalic.fntdata"/><Relationship Id="rId14" Type="http://schemas.openxmlformats.org/officeDocument/2006/relationships/font" Target="fonts/RobotoBlack-bold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cc3421d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dcc3421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c3421d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cc3421d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c3421d1e_0_10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dcc3421d1e_0_10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c3421d1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cc3421d1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cc3421d1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cc3421d1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cc3421d1e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cc3421d1e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bit.ly/PostTestScSQLintroductionJuli2026" TargetMode="External"/><Relationship Id="rId9" Type="http://schemas.openxmlformats.org/officeDocument/2006/relationships/hyperlink" Target="https://bit.ly/ClaimSertifSCDataScienceJuli2026" TargetMode="External"/><Relationship Id="rId5" Type="http://schemas.openxmlformats.org/officeDocument/2006/relationships/hyperlink" Target="https://bit.ly/PostTestScSQLintroductionJuli2026" TargetMode="External"/><Relationship Id="rId6" Type="http://schemas.openxmlformats.org/officeDocument/2006/relationships/hyperlink" Target="https://youtube.com/live/VupE1WTsf10" TargetMode="External"/><Relationship Id="rId7" Type="http://schemas.openxmlformats.org/officeDocument/2006/relationships/hyperlink" Target="https://bit.ly/DatasetSCDataSQLIntro" TargetMode="External"/><Relationship Id="rId8" Type="http://schemas.openxmlformats.org/officeDocument/2006/relationships/hyperlink" Target="https://sqliteonline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bit.ly/DatasetSCDataSQLIntro" TargetMode="External"/><Relationship Id="rId5" Type="http://schemas.openxmlformats.org/officeDocument/2006/relationships/hyperlink" Target="https://sqliteonline.com/" TargetMode="External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Short Class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3792125" y="1478925"/>
            <a:ext cx="51159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6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SQL Introduction</a:t>
            </a:r>
            <a:endParaRPr b="0" i="0" sz="66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b="0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(Nama Kamu)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 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c3421d1e_0_0"/>
          <p:cNvSpPr txBox="1"/>
          <p:nvPr>
            <p:ph type="title"/>
          </p:nvPr>
        </p:nvSpPr>
        <p:spPr>
          <a:xfrm>
            <a:off x="214050" y="1550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b="1" lang="id" sz="3440">
                <a:solidFill>
                  <a:srgbClr val="36949B"/>
                </a:solidFill>
              </a:rPr>
              <a:t>Petunjuk Pengerjaan</a:t>
            </a:r>
            <a:endParaRPr sz="2720"/>
          </a:p>
        </p:txBody>
      </p:sp>
      <p:grpSp>
        <p:nvGrpSpPr>
          <p:cNvPr id="70" name="Google Shape;70;g3dcc3421d1e_0_0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1" name="Google Shape;71;g3dcc3421d1e_0_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dcc3421d1e_0_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dcc3421d1e_0_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g3dcc3421d1e_0_0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75" name="Google Shape;75;g3dcc3421d1e_0_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dcc3421d1e_0_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dcc3421d1e_0_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dcc3421d1e_0_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dcc3421d1e_0_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dcc3421d1e_0_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dcc3421d1e_0_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dcc3421d1e_0_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dcc3421d1e_0_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g3dcc3421d1e_0_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5" name="Google Shape;85;g3dcc3421d1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cc3421d1e_0_0"/>
          <p:cNvSpPr txBox="1"/>
          <p:nvPr/>
        </p:nvSpPr>
        <p:spPr>
          <a:xfrm>
            <a:off x="214050" y="878050"/>
            <a:ext cx="87843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</a:t>
            </a:r>
            <a:r>
              <a:rPr b="1" lang="id" sz="1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tidak open access untuk edit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maka </a:t>
            </a:r>
            <a:r>
              <a:rPr b="1" lang="id" sz="1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download lah file ini lalu kerjakanlah pada device masing-masing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dengan cara </a:t>
            </a:r>
            <a:r>
              <a:rPr b="1" lang="id" sz="11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klik file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kiri, </a:t>
            </a:r>
            <a:r>
              <a:rPr b="1" lang="id" sz="11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pilih download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dan </a:t>
            </a:r>
            <a:r>
              <a:rPr b="1" lang="id" sz="11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pilihlah Microsoft Powerpoint .pptx. Untuk mengerjakan, perhatikan perintah dibawah ini: </a:t>
            </a:r>
            <a:endParaRPr b="1" sz="110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Uji pemahaman kamu dengan mengerjakan post test pada link berikut: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 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https://bit.ly/PostTestScSQLintroductionJuli2026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Buatlah rangkuman untuk materi yang kamu pelajari hari ini pada slide 3, jika tidak cukup, boleh kamu tambahkan slide. Recording kelas : 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https://youtube.com/live/VupE1WTsf10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id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Perhatikan case study pada slide 4. 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Olah dataset berikut 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https://bit.ly/DatasetSCDataSQLIntro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https://sqliteonline.com/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sesuai dengan arahan dan contoh dari tutor pada saat sesi kelas. Screenshot </a:t>
            </a:r>
            <a:r>
              <a:rPr lang="id" sz="1100">
                <a:latin typeface="Roboto"/>
                <a:ea typeface="Roboto"/>
                <a:cs typeface="Roboto"/>
                <a:sym typeface="Roboto"/>
              </a:rPr>
              <a:t>praktek yang kamu lakukan pada platform SQLite Online, dan jawab pertanyaan pada slide 6 sesuai dengan temuan saat kamu mengolah dataset. 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Uploadlah hasil pekerjaanmu pada template ini di salah satu media sosialmu. Yang di upload boleh berupa file ppt maupun file screenshot dari file ini (kecuali slide 2 - Petunjuk Pengerjaa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n). Buatlah caption tentang pengalaman belajarmu di MySkill dan, jangan lupa tag myskill.id serta gunakan hashtag #learnatmyskill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Link postingan social mediamu bisa kamu input di </a:t>
            </a:r>
            <a:r>
              <a:rPr lang="id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https://bit.ly/ClaimSertifSCDataScienceJuli2026 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maksimal hari </a:t>
            </a:r>
            <a:r>
              <a:rPr b="1" lang="id" sz="1100">
                <a:latin typeface="Roboto"/>
                <a:ea typeface="Roboto"/>
                <a:cs typeface="Roboto"/>
                <a:sym typeface="Roboto"/>
              </a:rPr>
              <a:t>Rabu, 15 Juli 2026 </a:t>
            </a:r>
            <a:r>
              <a:rPr b="1"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pukul 23.59 WIB</a:t>
            </a:r>
            <a:r>
              <a:rPr lang="id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link tersebut diisi sebagai absen dan sebagai cara kamu untuk mendapatkan sertifikat nantinya (sertifikat maksimal akan dikirim di grup kelas Short Class pada H+7) 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g3dcc3421d1e_0_21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92" name="Google Shape;92;g3dcc3421d1e_0_2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dcc3421d1e_0_2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dcc3421d1e_0_2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g3dcc3421d1e_0_21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96" name="Google Shape;96;g3dcc3421d1e_0_2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dcc3421d1e_0_2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dcc3421d1e_0_2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dcc3421d1e_0_2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dcc3421d1e_0_2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dcc3421d1e_0_2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dcc3421d1e_0_2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dcc3421d1e_0_2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dcc3421d1e_0_2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g3dcc3421d1e_0_2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6" name="Google Shape;106;g3dcc3421d1e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g3dcc3421d1e_0_21"/>
          <p:cNvGraphicFramePr/>
          <p:nvPr/>
        </p:nvGraphicFramePr>
        <p:xfrm>
          <a:off x="400188" y="114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{FC939706-1649-4F0E-96A8-61861AD31ADC}</a:tableStyleId>
              </a:tblPr>
              <a:tblGrid>
                <a:gridCol w="1350000"/>
                <a:gridCol w="6781925"/>
              </a:tblGrid>
              <a:tr h="41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id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 Belajar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891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id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Rangkuman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8919B"/>
                    </a:solidFill>
                  </a:tcPr>
                </a:tc>
              </a:tr>
              <a:tr h="69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d" sz="1100"/>
                        <a:t>Pengenalan Database &amp; SQL </a:t>
                      </a:r>
                      <a:endParaRPr sz="11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/>
                </a:tc>
              </a:tr>
              <a:tr h="80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id" sz="1100">
                          <a:solidFill>
                            <a:schemeClr val="dk1"/>
                          </a:solidFill>
                        </a:rPr>
                        <a:t>Fungsi SQL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</a:tr>
              <a:tr h="80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d" sz="1100"/>
                        <a:t>Tipe Data SQL</a:t>
                      </a:r>
                      <a:endParaRPr sz="11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/>
                </a:tc>
              </a:tr>
              <a:tr h="80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100"/>
                        <a:t>Peranan SQL di Dunia Industri 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g3dcc3421d1e_0_21"/>
          <p:cNvSpPr txBox="1"/>
          <p:nvPr/>
        </p:nvSpPr>
        <p:spPr>
          <a:xfrm>
            <a:off x="313713" y="204725"/>
            <a:ext cx="85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36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Course Summary</a:t>
            </a:r>
            <a:endParaRPr b="1" i="0" sz="3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g3dcc3421d1e_0_21"/>
          <p:cNvSpPr txBox="1"/>
          <p:nvPr/>
        </p:nvSpPr>
        <p:spPr>
          <a:xfrm>
            <a:off x="299813" y="642163"/>
            <a:ext cx="82323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id" sz="1200" u="none" cap="none" strike="noStrike">
                <a:solidFill>
                  <a:srgbClr val="99999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Buat rangkuman singkat tentang materi yang baru kamu pelajari di sini, yuk! :)</a:t>
            </a:r>
            <a:endParaRPr b="0" i="0" sz="15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cc3421d1e_0_21"/>
          <p:cNvSpPr txBox="1"/>
          <p:nvPr/>
        </p:nvSpPr>
        <p:spPr>
          <a:xfrm rot="-5400000">
            <a:off x="6978975" y="2696600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Owner : (Nama Kamu)</a:t>
            </a:r>
            <a:endParaRPr b="0" i="0" sz="15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g3dcc3421d1e_0_104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16" name="Google Shape;116;g3dcc3421d1e_0_10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dcc3421d1e_0_10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dcc3421d1e_0_10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g3dcc3421d1e_0_104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20" name="Google Shape;120;g3dcc3421d1e_0_10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dcc3421d1e_0_10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dcc3421d1e_0_10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dcc3421d1e_0_10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dcc3421d1e_0_10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dcc3421d1e_0_10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dcc3421d1e_0_10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dcc3421d1e_0_10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dcc3421d1e_0_10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3dcc3421d1e_0_104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0" name="Google Shape;130;g3dcc3421d1e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cc3421d1e_0_104"/>
          <p:cNvSpPr txBox="1"/>
          <p:nvPr/>
        </p:nvSpPr>
        <p:spPr>
          <a:xfrm rot="-5400000">
            <a:off x="6573275" y="2379300"/>
            <a:ext cx="440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Owner : (Nama Kamu)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2" name="Google Shape;132;g3dcc3421d1e_0_104"/>
          <p:cNvSpPr txBox="1"/>
          <p:nvPr/>
        </p:nvSpPr>
        <p:spPr>
          <a:xfrm>
            <a:off x="3718775" y="1022575"/>
            <a:ext cx="5021100" cy="3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Bayangkan kamu adalah seorang Junior Data Analyst yang baru bergabung di sebuah perusahaan retail. Kamu diberikan data transaksi penjualan sebagai berikut </a:t>
            </a:r>
            <a:r>
              <a:rPr lang="id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https://bit.ly/DatasetSCDataSQLIntro</a:t>
            </a: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Tim Sales meminta bantuanmu untuk menganalisis performa penjualan perusahaan. Gunakan SQL pada platform </a:t>
            </a:r>
            <a:r>
              <a:rPr lang="id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https://sqliteonline.com/</a:t>
            </a: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untuk menjawab pertanyaan berikut :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Produk apa yang paling laku?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Produk apa yang </a:t>
            </a: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menghasilkan penjualan tertinggi?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78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Produk apa yang menghasilkan penjualan terendah?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Screenshot </a:t>
            </a: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halaman</a:t>
            </a:r>
            <a:r>
              <a:rPr lang="id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pada SQLite Online saat kamu melakukan praktek, dan tambahkan pada slide 5. Lalu, isi kesimpulan dari temuan analisis datamu, dan tambahkan pada slide 6.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dcc3421d1e_0_104"/>
          <p:cNvSpPr txBox="1"/>
          <p:nvPr/>
        </p:nvSpPr>
        <p:spPr>
          <a:xfrm>
            <a:off x="313713" y="204725"/>
            <a:ext cx="85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id" sz="3600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b="1" i="0" sz="3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g3dcc3421d1e_0_104"/>
          <p:cNvPicPr preferRelativeResize="0"/>
          <p:nvPr/>
        </p:nvPicPr>
        <p:blipFill rotWithShape="1">
          <a:blip r:embed="rId6">
            <a:alphaModFix/>
          </a:blip>
          <a:srcRect b="10214" l="4069" r="3663" t="14240"/>
          <a:stretch/>
        </p:blipFill>
        <p:spPr>
          <a:xfrm>
            <a:off x="410525" y="1394088"/>
            <a:ext cx="3216300" cy="263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g3dcc3421d1e_0_186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40" name="Google Shape;140;g3dcc3421d1e_0_18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dcc3421d1e_0_18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dcc3421d1e_0_18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g3dcc3421d1e_0_186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44" name="Google Shape;144;g3dcc3421d1e_0_18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dcc3421d1e_0_18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dcc3421d1e_0_18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dcc3421d1e_0_18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dcc3421d1e_0_18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dcc3421d1e_0_18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dcc3421d1e_0_18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dcc3421d1e_0_18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dcc3421d1e_0_18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g3dcc3421d1e_0_18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4" name="Google Shape;154;g3dcc3421d1e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cc3421d1e_0_186"/>
          <p:cNvSpPr txBox="1"/>
          <p:nvPr/>
        </p:nvSpPr>
        <p:spPr>
          <a:xfrm>
            <a:off x="313713" y="204725"/>
            <a:ext cx="85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id" sz="3600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SQL Practice in SQLite Online</a:t>
            </a:r>
            <a:endParaRPr b="1" i="0" sz="3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dcc3421d1e_0_186"/>
          <p:cNvSpPr txBox="1"/>
          <p:nvPr/>
        </p:nvSpPr>
        <p:spPr>
          <a:xfrm>
            <a:off x="261063" y="771713"/>
            <a:ext cx="82323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Screenshot proses latihan mengolah dataset pada SQLite Online pada slide ini. </a:t>
            </a:r>
            <a:endParaRPr i="1" sz="1200">
              <a:solidFill>
                <a:srgbClr val="99999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dcc3421d1e_0_186"/>
          <p:cNvSpPr txBox="1"/>
          <p:nvPr/>
        </p:nvSpPr>
        <p:spPr>
          <a:xfrm rot="-5400000">
            <a:off x="6978975" y="2696600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Owner : (Nama Kamu)</a:t>
            </a:r>
            <a:endParaRPr b="0" i="0" sz="15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g3dcc3421d1e_0_209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63" name="Google Shape;163;g3dcc3421d1e_0_20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dcc3421d1e_0_20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dcc3421d1e_0_20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g3dcc3421d1e_0_209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67" name="Google Shape;167;g3dcc3421d1e_0_20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dcc3421d1e_0_20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dcc3421d1e_0_20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dcc3421d1e_0_20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dcc3421d1e_0_20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dcc3421d1e_0_20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dcc3421d1e_0_20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dcc3421d1e_0_20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dcc3421d1e_0_20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g3dcc3421d1e_0_20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g3dcc3421d1e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dcc3421d1e_0_209"/>
          <p:cNvSpPr txBox="1"/>
          <p:nvPr/>
        </p:nvSpPr>
        <p:spPr>
          <a:xfrm>
            <a:off x="313713" y="204725"/>
            <a:ext cx="85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id" sz="3600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SQL Practice in SQLite Online</a:t>
            </a:r>
            <a:endParaRPr b="1" i="0" sz="3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dcc3421d1e_0_209"/>
          <p:cNvSpPr txBox="1"/>
          <p:nvPr/>
        </p:nvSpPr>
        <p:spPr>
          <a:xfrm>
            <a:off x="261063" y="771713"/>
            <a:ext cx="82323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2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Isi tabel dibawah ini, sesuai dengan hasil analisis data yang telah kamu lakukan di SQLite Online.</a:t>
            </a:r>
            <a:endParaRPr sz="1200">
              <a:solidFill>
                <a:srgbClr val="8888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3dcc3421d1e_0_209"/>
          <p:cNvSpPr txBox="1"/>
          <p:nvPr/>
        </p:nvSpPr>
        <p:spPr>
          <a:xfrm rot="-5400000">
            <a:off x="6978975" y="2696600"/>
            <a:ext cx="35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Owner : (Nama Kamu)</a:t>
            </a:r>
            <a:endParaRPr b="0" i="0" sz="15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g3dcc3421d1e_0_209"/>
          <p:cNvGraphicFramePr/>
          <p:nvPr/>
        </p:nvGraphicFramePr>
        <p:xfrm>
          <a:off x="374575" y="124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{6A51ADF5-125A-4740-9955-F36B59E6D8B2}</a:tableStyleId>
              </a:tblPr>
              <a:tblGrid>
                <a:gridCol w="3054175"/>
                <a:gridCol w="5064625"/>
              </a:tblGrid>
              <a:tr h="77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Produk apa yang paling laku?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1222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Produk apa yang menghasilkan penjualan tertinggi?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EEEEEE"/>
                    </a:solidFill>
                  </a:tcPr>
                </a:tc>
              </a:tr>
              <a:tr h="116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Produk apa yang menghasilkan penjualan terendah?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cc3421d1e_0_232"/>
          <p:cNvSpPr txBox="1"/>
          <p:nvPr/>
        </p:nvSpPr>
        <p:spPr>
          <a:xfrm>
            <a:off x="332350" y="299525"/>
            <a:ext cx="85206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id" sz="52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Follow me!</a:t>
            </a:r>
            <a:endParaRPr b="0" i="0" sz="5200" u="none" cap="none" strike="noStrike">
              <a:solidFill>
                <a:srgbClr val="17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dcc3421d1e_0_232"/>
          <p:cNvSpPr txBox="1"/>
          <p:nvPr/>
        </p:nvSpPr>
        <p:spPr>
          <a:xfrm>
            <a:off x="332350" y="1685150"/>
            <a:ext cx="50283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d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Instagram 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d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Twitter 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d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LinkedIn 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dcc3421d1e_0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2925" y="830550"/>
            <a:ext cx="3482400" cy="34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dcc3421d1e_0_232"/>
          <p:cNvSpPr txBox="1"/>
          <p:nvPr/>
        </p:nvSpPr>
        <p:spPr>
          <a:xfrm>
            <a:off x="332350" y="3800825"/>
            <a:ext cx="57312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Class</a:t>
            </a:r>
            <a:r>
              <a:rPr lang="id" sz="1800">
                <a:solidFill>
                  <a:schemeClr val="dk1"/>
                </a:solidFill>
              </a:rPr>
              <a:t> Data Science and Analytics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id" sz="1800">
                <a:solidFill>
                  <a:schemeClr val="dk1"/>
                </a:solidFill>
              </a:rPr>
              <a:t>MySkill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